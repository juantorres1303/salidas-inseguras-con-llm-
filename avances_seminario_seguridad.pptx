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9994392" y="822960"/>
            <a:ext cx="1371600" cy="1371600"/>
          </a:xfrm>
          <a:prstGeom prst="ellipse">
            <a:avLst/>
          </a:prstGeom>
          <a:solidFill>
            <a:srgbClr val="3A3F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994392" y="822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DEL SEMINARIO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Inseguro de Salidas del LLM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OWASP Top 10 for LLM Applications (LLM05: Improper Output Handling)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4206240" cy="0"/>
          </a:xfrm>
          <a:prstGeom prst="line">
            <a:avLst/>
          </a:prstGeom>
          <a:noFill/>
          <a:ln w="12700">
            <a:solidFill>
              <a:srgbClr val="565C6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a: Tatiana Marcela Gómez Sarmiento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09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Eliecer Moreno Tenjica   ·   Juan Camilo Torres Suárez</a:t>
            </a:r>
            <a:endParaRPr lang="en-US" sz="12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Santiago Moreno Ruiz   ·   David Alejandro Contreras Delgado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126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8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09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cubre este avance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progreso frente a la entrega inicial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48640" cy="5486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y objetivo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2585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salida de un LLM puede ser un vector de ataque.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1947672"/>
            <a:ext cx="548640" cy="5486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65392" y="1947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8745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0" y="225856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de LLM05 en el OWASP Top 10 for LLM Applications.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639312"/>
            <a:ext cx="548640" cy="5486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del flujo del ataque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950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usuario a la explotación, con el punto de decisión clave.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65392" y="3639312"/>
            <a:ext cx="548640" cy="5486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65392" y="3639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vectores de explotación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95020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XSS, inyección de consultas e inyección de comandos.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330952"/>
            <a:ext cx="548640" cy="5486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4672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55448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casos documentados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1554480" y="56418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CVE-2024-5565 (Vanna.AI) y CVE-2025-68664 (LangChain).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507492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65392" y="5330952"/>
            <a:ext cx="548640" cy="548640"/>
          </a:xfrm>
          <a:prstGeom prst="ellipse">
            <a:avLst/>
          </a:prstGeom>
          <a:solidFill>
            <a:srgbClr val="2B2F3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65392" y="5330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52578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Estrategias de mitigación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6418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propuestos y próximos pasos del seminario.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Avances del seminario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una fuente de datos no confiable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669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LLM05: Improper Output Handling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30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Ocurre cuando una aplicación confía en el contenido generado por un LLM y lo reenvía a otro componente del sistema sin validarlo ni codificarlo.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raíz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LLM es, para la seguridad de la aplicación, una fuente externa no confiable — igual que un formulario web o un parámetro de URL — pero rara vez se sanitiza como tal.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57200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2B2F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46817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4956048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 vulnerabilidad, sus vectores de explotación y sus mitigaciones, mostrando cómo una respuesta del LLM puede volverse una instrucción peligrosa si no se valida.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3716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otras categorías OWASP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537960" y="1783080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75120" y="1783080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LLM01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183794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
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 salida maliciosa que LLM05 deja pasar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37960" y="2569464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2B2F36"/>
          </a:solidFill>
          <a:ln w="12700">
            <a:solidFill>
              <a:srgbClr val="2B2F3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2569464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LLM05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26243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Output Handling
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C7C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vulnerabilidad central de este informe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37960" y="3355848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355848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LLM06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34107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 Disclosure
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salida no filtrada puede exponer datos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4142232"/>
            <a:ext cx="51206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4142232"/>
            <a:ext cx="914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LLM08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41970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Excessive Agency
</a:t>
            </a:r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amplifica el impacto si la salida se ejecuta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Avances del seminario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del flujo del ataque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de confianza (trust boundary) es el punto donde la aplicación debe decidir si valida la salida del LLM antes de reenviarla.</a:t>
            </a:r>
            <a:endParaRPr lang="en-US" sz="1250" dirty="0"/>
          </a:p>
        </p:txBody>
      </p:sp>
      <p:pic>
        <p:nvPicPr>
          <p:cNvPr id="4" name="Image 0" descr="/home/claude/ppt/flujo_ataque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6626" y="1600200"/>
            <a:ext cx="8595701" cy="4892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Avances del seminario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vectores de explotación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causa raíz: salida del LLM reenviada sin validar. Distinto consumidor, distinto impacto.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19656" y="2057400"/>
            <a:ext cx="960120" cy="960120"/>
          </a:xfrm>
          <a:prstGeom prst="ellipse">
            <a:avLst/>
          </a:prstGeom>
          <a:solidFill>
            <a:srgbClr val="B23A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19656" y="2057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Cross-Site Scripting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3703320"/>
            <a:ext cx="2039112" cy="0"/>
          </a:xfrm>
          <a:prstGeom prst="line">
            <a:avLst/>
          </a:prstGeom>
          <a:noFill/>
          <a:ln w="12700">
            <a:solidFill>
              <a:srgbClr val="D8DA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384048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se inserta en el DOM (innerHTML) y el navegador ejecuta el marcado/JavaScript como legítimo.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12064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 de sesión, cookies, redirecciones maliciosas.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06824" y="169164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577840" y="2057400"/>
            <a:ext cx="960120" cy="960120"/>
          </a:xfrm>
          <a:prstGeom prst="ellipse">
            <a:avLst/>
          </a:prstGeom>
          <a:solidFill>
            <a:srgbClr val="B23A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577840" y="2057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35424" y="32004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consultas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38344" y="3703320"/>
            <a:ext cx="2039112" cy="0"/>
          </a:xfrm>
          <a:prstGeom prst="line">
            <a:avLst/>
          </a:prstGeom>
          <a:noFill/>
          <a:ln w="12700">
            <a:solidFill>
              <a:srgbClr val="D8DA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2856" y="384048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"texto a SQL" ejecuta la consulta generada sin parametrizar ni validar.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512064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o borrado de datos en la base de datos.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5008" y="1691640"/>
            <a:ext cx="3502152" cy="416052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336024" y="2057400"/>
            <a:ext cx="960120" cy="960120"/>
          </a:xfrm>
          <a:prstGeom prst="ellipse">
            <a:avLst/>
          </a:prstGeom>
          <a:solidFill>
            <a:srgbClr val="B23A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36024" y="2057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93608" y="320040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Inyección de comandos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796528" y="3703320"/>
            <a:ext cx="2039112" cy="0"/>
          </a:xfrm>
          <a:prstGeom prst="line">
            <a:avLst/>
          </a:prstGeom>
          <a:noFill/>
          <a:ln w="12700">
            <a:solidFill>
              <a:srgbClr val="D8DA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3840480"/>
            <a:ext cx="2990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con capacidad de ejecutar código o llamar herramientas interpreta la salida como comando.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5120640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b="1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remota de código, modificación de archivos.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Avances del seminario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casos reales, con CVE asignado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ya fue explotado en librerías ampliamente usadas del ecosistema de agentes de IA.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2B2F3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CVE-2024-5565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3134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8.1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8620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Vanna.AI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95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RCE por prompt injection en la visualización de resultados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76472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texto-a-SQL también genera código Python para graficar resultados, que se ejecuta con exec(). Una pregunta maliciosa induce al LLM a incluir comandos del sistema en ese código.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22960" y="5486400"/>
            <a:ext cx="4800600" cy="0"/>
          </a:xfrm>
          <a:prstGeom prst="line">
            <a:avLst/>
          </a:prstGeom>
          <a:noFill/>
          <a:ln w="12700">
            <a:solidFill>
              <a:srgbClr val="D8DA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77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OWASP: LLM05 + LLM01 + LLM08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8DA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920240"/>
            <a:ext cx="4892040" cy="777240"/>
          </a:xfrm>
          <a:prstGeom prst="roundRect">
            <a:avLst>
              <a:gd name="adj" fmla="val 7059"/>
            </a:avLst>
          </a:prstGeom>
          <a:solidFill>
            <a:srgbClr val="2B2F3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83680" y="19659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CVE-2025-68664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31343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A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9.3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62072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("LangGrinch")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2095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Fuga de secretos y RCE por deserialización insegura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776472"/>
            <a:ext cx="4800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20" dirty="0">
                <a:solidFill>
                  <a:srgbClr val="1B1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Metadatos de la respuesta del LLM (additional_kwargs, response_metadata) no se escapan al serializar; un atacante puede lograr que se interpreten como objetos internos y exfiltrar variables de entorno.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446520" y="5486400"/>
            <a:ext cx="4800600" cy="0"/>
          </a:xfrm>
          <a:prstGeom prst="line">
            <a:avLst/>
          </a:prstGeom>
          <a:noFill/>
          <a:ln w="12700">
            <a:solidFill>
              <a:srgbClr val="D8DA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55778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OWASP: LLM05 + LLM01 + LLM06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Avances del seminario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y próximos pasos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1F2226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la salida del LLM como un dato de entrada no confiable, y aplicar los mismos controles de validación y sanitización que a cualquier fuente externa.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A3F47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53288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 de salida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al contexto (HTML, JS, URL)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A3F47"/>
          </a:solidFill>
          <a:ln/>
        </p:spPr>
      </p:sp>
      <p:sp>
        <p:nvSpPr>
          <p:cNvPr id="11" name="Shape 9"/>
          <p:cNvSpPr/>
          <p:nvPr/>
        </p:nvSpPr>
        <p:spPr>
          <a:xfrm>
            <a:off x="3557016" y="253288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557016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38728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estructurada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38728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/ JSON Schema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3056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A3F4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64224" y="253288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64224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45936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345936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mínimo privilegio en BD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70264" y="23317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3A3F47"/>
          </a:solidFill>
          <a:ln/>
        </p:spPr>
      </p:sp>
      <p:sp>
        <p:nvSpPr>
          <p:cNvPr id="21" name="Shape 19"/>
          <p:cNvSpPr/>
          <p:nvPr/>
        </p:nvSpPr>
        <p:spPr>
          <a:xfrm>
            <a:off x="9171432" y="2532888"/>
            <a:ext cx="384048" cy="384048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171432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53144" y="299923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Sandboxing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53144" y="3383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B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allow-list de herramientas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9A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del seminario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617720"/>
            <a:ext cx="347472" cy="347472"/>
          </a:xfrm>
          <a:prstGeom prst="ellipse">
            <a:avLst/>
          </a:prstGeom>
          <a:solidFill>
            <a:srgbClr val="F4F5F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617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590288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una prueba de concepto en Java (validación / sanitización de salida).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148072"/>
            <a:ext cx="347472" cy="347472"/>
          </a:xfrm>
          <a:prstGeom prst="ellipse">
            <a:avLst/>
          </a:prstGeom>
          <a:solidFill>
            <a:srgbClr val="F4F5F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5148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120640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Redactar la sección de autonomía excesiva (Excessive Agency) del comparativo.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5678424"/>
            <a:ext cx="347472" cy="347472"/>
          </a:xfrm>
          <a:prstGeom prst="ellipse">
            <a:avLst/>
          </a:prstGeom>
          <a:solidFill>
            <a:srgbClr val="F4F5F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678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650992"/>
            <a:ext cx="9875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7E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Consolidar la comparación experimental entre mecanismos de defensa.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Seguridad — Avances del seminario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2026-09-19T13:20:44Z</dcterms:created>
  <dcterms:modified xsi:type="dcterms:W3CDTF">2026-09-19T13:20:44Z</dcterms:modified>
</cp:coreProperties>
</file>